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Gamified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Engagement</c:v>
                  </c:pt>
                  <c:pt idx="1">
                    <c:v>Motivation</c:v>
                  </c:pt>
                  <c:pt idx="2">
                    <c:v>Participation</c:v>
                  </c:pt>
                  <c:pt idx="3">
                    <c:v>Learning Outcomes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85.5</c:v>
                </c:pt>
                <c:pt idx="1">
                  <c:v>77.2</c:v>
                </c:pt>
                <c:pt idx="2">
                  <c:v>90</c:v>
                </c:pt>
                <c:pt idx="3">
                  <c:v>71.1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Non-Gamified</c:v>
                </c:pt>
              </c:strCache>
            </c:strRef>
          </c:tx>
          <c:spPr>
            <a:solidFill>
              <a:srgbClr val="F9E7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Engagement</c:v>
                  </c:pt>
                  <c:pt idx="1">
                    <c:v>Motivation</c:v>
                  </c:pt>
                  <c:pt idx="2">
                    <c:v>Participation</c:v>
                  </c:pt>
                  <c:pt idx="3">
                    <c:v>Learning Outcomes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68.6</c:v>
                </c:pt>
                <c:pt idx="1">
                  <c:v>65.6</c:v>
                </c:pt>
                <c:pt idx="2">
                  <c:v>78.2</c:v>
                </c:pt>
                <c:pt idx="3">
                  <c:v>58.4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427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7DCD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Survey Analytics: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Methods &amp; Gamification Impact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1,002 students, 15 teachers, and 5 teaching methods — measuring how gamification shapes effectiveness and engagement.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3931920"/>
            <a:ext cx="1554480" cy="963778"/>
          </a:xfrm>
          <a:prstGeom prst="diamond">
            <a:avLst/>
          </a:prstGeom>
          <a:solidFill>
            <a:srgbClr val="F9E795"/>
          </a:solidFill>
          <a:ln/>
        </p:spPr>
      </p:sp>
      <p:sp>
        <p:nvSpPr>
          <p:cNvPr id="10" name="Shape 8"/>
          <p:cNvSpPr/>
          <p:nvPr/>
        </p:nvSpPr>
        <p:spPr>
          <a:xfrm>
            <a:off x="9549994" y="4460443"/>
            <a:ext cx="559613" cy="46634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10389413" y="4367174"/>
            <a:ext cx="77724" cy="528523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58323" y="4864608"/>
            <a:ext cx="139903" cy="139903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·   SOLUTION   ·   INSIGHT   ·   CHALLENGES   ·   OUTCOME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 ANALYTICS  ·  1,002 STUDENTS  ·  15 TEACHERS  ·  5 TEACHING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ran a large survey across five teaching methods and a separate gamification pilot — but the results sat as two raw, uncleaned exports with mismatched student names, no merged view, and no way to answer the questions that actually mattered: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8386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558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teaching method truly drives effectiveness and engagement?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5079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2277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gamification meaningfully lift student outcomes, or just feel like it does?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8970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teachers and methods should get more classroom time?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0" y="173736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2631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SINGLE SOURCE OF TRUTH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24231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26680" y="31729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raw survey exports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359359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72668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per student, unlinked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26680" y="4764024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26680" y="5513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or KPIs to guide decisions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one connected analytics workbook that turns two messy exports into a governed, decision-ready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0335" y="242316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310335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64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original survey exports, whitespace and formatting issues intact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9814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794406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6102" y="242316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355610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64" dirty="0"/>
          </a:p>
        </p:txBody>
      </p:sp>
      <p:sp>
        <p:nvSpPr>
          <p:cNvPr id="14" name="Text 12"/>
          <p:cNvSpPr/>
          <p:nvPr/>
        </p:nvSpPr>
        <p:spPr>
          <a:xfrm>
            <a:off x="2931566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77286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trimmed and standardized so every record matches exactly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5581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40173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1868" y="242316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801868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64" dirty="0"/>
          </a:p>
        </p:txBody>
      </p:sp>
      <p:sp>
        <p:nvSpPr>
          <p:cNvPr id="20" name="Text 18"/>
          <p:cNvSpPr/>
          <p:nvPr/>
        </p:nvSpPr>
        <p:spPr>
          <a:xfrm>
            <a:off x="5177333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Master_Data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23053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1,002 students × 35 columns merged into one single source of truth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21347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285939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7634" y="242316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8047634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64" dirty="0"/>
          </a:p>
        </p:txBody>
      </p:sp>
      <p:sp>
        <p:nvSpPr>
          <p:cNvPr id="26" name="Text 24"/>
          <p:cNvSpPr/>
          <p:nvPr/>
        </p:nvSpPr>
        <p:spPr>
          <a:xfrm>
            <a:off x="7423099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&amp; Analysis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68819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teaching, engagement, gamification &amp; teacher KPIs calculated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67114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531706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96167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93401" y="24231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93401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64" dirty="0"/>
          </a:p>
        </p:txBody>
      </p:sp>
      <p:sp>
        <p:nvSpPr>
          <p:cNvPr id="32" name="Text 30"/>
          <p:cNvSpPr/>
          <p:nvPr/>
        </p:nvSpPr>
        <p:spPr>
          <a:xfrm>
            <a:off x="9668866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14586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D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pivot tables, 5 linked slicers, live KPI cards for instant answers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references the merged table directly — no hardcoded numbers, no manual copy-paste between sheets.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Insight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Lifts Every Metric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6309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600200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63500" dist="25400" dir="5400000">
              <a:srgbClr val="B7A99C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42048" y="1691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+13.2 pts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006840" y="1691640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gamification lift across all four outcome metrics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2770632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63500" dist="25400" dir="5400000">
              <a:srgbClr val="B7A99C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42048" y="28620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006840" y="2862072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 method for both effectiveness and engagement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941064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63500" dist="25400" dir="5400000">
              <a:srgbClr val="B7A99C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42048" y="403250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4.04 / 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006840" y="4032504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is remarkably even across all 5 teaching methods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5111496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63500" dist="25400" dir="5400000">
              <a:srgbClr val="B7A99C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42048" y="520293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006840" y="5202936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effectiveness and engagement — they move independently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ROADBLOCKS &amp; FIXES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Name Matches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 in the raw exports carried stray leading/trailing spaces, so lookups silently failed.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trimmed whitespace on every name before merging, so every INDEX/MATCH lookup finds its record.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7304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3336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33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4593336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Cross-Version Formula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3336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design leaned on XLOOKUP, which isn't available in every Excel version.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93336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3336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3336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rebuilt every lookup with IFERROR + INDEX/MATCH for full backward compatibility.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25968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sx="100000" sy="100000" kx="0" ky="0" algn="bl" rotWithShape="0" blurRad="76200" dist="25400" dir="5400000">
              <a:srgbClr val="B7A99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2000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8382000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 Spanning Two Tables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82000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slicer can't natively filter pivots built from two different source tables.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82000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2000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82000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grouped pivots by source table and mapped slicers deliberately — Gender/Age/Performance for student pivots, Teaching Method for teacher pivots.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governed workbook that replaced two disconnected exports with a live, self-service dashboard — turning raw survey data into an evidence-based teaching strategy.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423160" y="279806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charts, all fed by one Master_Data table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423160" y="375818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slicers for instant, one-click segmentation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+13.2 pts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23160" y="471830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lift from gamification — the clearest, most actionable finding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508760"/>
            <a:ext cx="3977640" cy="4160520"/>
          </a:xfrm>
          <a:prstGeom prst="roundRect">
            <a:avLst>
              <a:gd name="adj" fmla="val 2759"/>
            </a:avLst>
          </a:prstGeom>
          <a:solidFill>
            <a:srgbClr val="26316B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225856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gamified delivery — it lifts every measured outcome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09560" y="312724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9992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Experiments-style teaching, the top method overall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09560" y="399592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386791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live dashboard for ongoing, evidence-based decisions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3840480" cy="38404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051560"/>
            <a:ext cx="1828800" cy="1828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184648" y="10515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3886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Master_Data model, any KPI, or the live dashboard in more detail.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4960" y="5289804"/>
            <a:ext cx="142646" cy="288036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5702198" y="5129784"/>
            <a:ext cx="142646" cy="448056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6009437" y="5206594"/>
            <a:ext cx="142646" cy="371246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6316675" y="4937760"/>
            <a:ext cx="142646" cy="64008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3914" y="5065776"/>
            <a:ext cx="142646" cy="512064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2026-07-13T19:28:19Z</dcterms:created>
  <dcterms:modified xsi:type="dcterms:W3CDTF">2026-07-13T19:28:19Z</dcterms:modified>
</cp:coreProperties>
</file>