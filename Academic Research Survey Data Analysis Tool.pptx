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Effectiveness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Lectures</c:v>
                </c:pt>
                <c:pt idx="1">
                  <c:v>Case Studies</c:v>
                </c:pt>
                <c:pt idx="2">
                  <c:v>Group Proj.</c:v>
                </c:pt>
                <c:pt idx="3">
                  <c:v>Experiments</c:v>
                </c:pt>
                <c:pt idx="4">
                  <c:v>Online Tut.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4.0380000000000003</c:v>
                </c:pt>
                <c:pt idx="1">
                  <c:v>4.048</c:v>
                </c:pt>
                <c:pt idx="2">
                  <c:v>4.0449999999999999</c:v>
                </c:pt>
                <c:pt idx="3">
                  <c:v>4.0490000000000004</c:v>
                </c:pt>
                <c:pt idx="4">
                  <c:v>4.0369999999999999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2-4CC6-A757-9C8D885836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C97F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Lectures</c:v>
                </c:pt>
                <c:pt idx="1">
                  <c:v>Case Studies</c:v>
                </c:pt>
                <c:pt idx="2">
                  <c:v>Group Proj.</c:v>
                </c:pt>
                <c:pt idx="3">
                  <c:v>Experiments</c:v>
                </c:pt>
                <c:pt idx="4">
                  <c:v>Online Tut.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4.0519999999999996</c:v>
                </c:pt>
                <c:pt idx="1">
                  <c:v>4.0490000000000004</c:v>
                </c:pt>
                <c:pt idx="2">
                  <c:v>4.0389999999999997</c:v>
                </c:pt>
                <c:pt idx="3">
                  <c:v>4.0570000000000004</c:v>
                </c:pt>
                <c:pt idx="4">
                  <c:v>4.0449999999999999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02-4CC6-A757-9C8D88583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07"/>
          <c:min val="4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Gamification %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85.5</c:v>
                </c:pt>
                <c:pt idx="1">
                  <c:v>77.2</c:v>
                </c:pt>
                <c:pt idx="2">
                  <c:v>90</c:v>
                </c:pt>
                <c:pt idx="3">
                  <c:v>71.099999999999994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70-4986-A382-93451C4764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Non-Gamification %</c:v>
                </c:pt>
              </c:strCache>
            </c:strRef>
          </c:tx>
          <c:spPr>
            <a:solidFill>
              <a:srgbClr val="C9CDD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Out.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68.599999999999994</c:v>
                </c:pt>
                <c:pt idx="1">
                  <c:v>65.599999999999994</c:v>
                </c:pt>
                <c:pt idx="2">
                  <c:v>78.2</c:v>
                </c:pt>
                <c:pt idx="3">
                  <c:v>58.4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70-4986-A382-93451C476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631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Survey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self-built survey analytics tool — demonstrated on a real case study of 1,002 student responses covering teaching methods, engagement and the impact of gamification.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7F3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023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Surveyed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7947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4D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4023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4754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7947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7F3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4023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Methods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37947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4DC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4023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+13.2 pts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81160" y="4754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Gamification Lift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000000-0008-0000-0B00-00000C000000}"/>
              </a:ext>
            </a:extLst>
          </p:cNvPr>
          <p:cNvPicPr/>
          <p:nvPr/>
        </p:nvPicPr>
        <p:blipFill>
          <a:blip r:embed="rId3"/>
          <a:srcRect l="12977" t="38692" r="12734" b="38401"/>
          <a:stretch/>
        </p:blipFill>
        <p:spPr>
          <a:xfrm>
            <a:off x="9144000" y="0"/>
            <a:ext cx="3309753" cy="960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survey exports were messy, disconnected, and hard to analyze — with no reusable tool to clean, merge and explore them. We built one, and tested it on 1,002 real student responses.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ONE PIPELINE, FOUR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E7F3F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spacing errors in student names so every record matches exactly across files.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E7F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6974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Master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840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student, gamification &amp; teacher surveys into one 1,002 × 35 master table.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E7F3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974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3840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5 KPI categories: Student, Teaching, Engagement, Gamification, Teacher.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2423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E7F3F2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26974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811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&amp; Dashboard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840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pivot tables + 5 linked filters power one interactive live dashboard.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Exports to Master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4D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  Garima Sinha    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removed extra spacing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“Garima Sinha”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every name matches exactly across the Student and Gamification survey files, so lookups no longer fail.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BEHIND THE SCENES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Gamification % Lookup — INDEX/MATCH pulls each student's gamified survey scores by name.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Gamification Lift — Gamification % minus Non-Gamification % = point gain per metric.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657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 Band, Performance Tier &amp; Best Method — auto-labeled from Overall Effectiveness and top-rated method.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E7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MASTER_DATA = ONE SOURCE OF TRUTH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 rows × 35 columns — every student, one row, with Age Band, Performance Tier, Best Method and Teacher Match added automatically.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Match links each student's best-rated method to a real example teacher.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7F3F2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749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PIVOTS &amp; THE LIVE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categories (Student, Teaching, Engagement, Gamification, Teacher) feed 12 pivot tables and 5 linked filters — Gender, Age Band, Performance Tier, Teaching Method, Metric.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5029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charts update instantly when you click any filter.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Methods &amp; the Gamification Effect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student ratings (1–5) by method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</a:t>
            </a: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for both Effectiveness and Engagement. All methods sit within 0.02 pts of each other.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2801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vs. non-gamification (avg %)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63640" y="1600200"/>
          <a:ext cx="5349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42519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+13.2 pts </a:t>
            </a: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gamification lift across all four metrics — 617/1,002 rated Effectiveness ≥ 4.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52144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E7F3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733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gains the most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lifts Engagement by +16.9 pts — nearly 50% more than Motivation (+11.6). Badges and leaderboards drive participation more than deep learning gains.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4D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C97F0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6733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≠ 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(r ≈ -0.003) shows they are independent — a fun method isn't automatically the one students learn best from.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4D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C97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793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benefits everyone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gamification lift is consistent across performance tiers (12.5–13.4 pts) — low performers benefit almost as much as high performers.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E7F3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97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2793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 matters less than expected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937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teaching methods score within 0.02 pts of each other — gamification moves the needle far more than which method is used.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merged dataset and dashboard turn 1,002 raw survey rows into clear, decision-ready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7F3F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627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Experiments-style, hands-on formats — the top method for both effectiveness and engagement.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4DC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2176272"/>
            <a:ext cx="411480" cy="411480"/>
          </a:xfrm>
          <a:prstGeom prst="ellipse">
            <a:avLst/>
          </a:prstGeom>
          <a:solidFill>
            <a:srgbClr val="C97F0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gamified elements (points, badges, leaderboards) program-wide — the lift is positive and consistent across every group.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4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4096512"/>
            <a:ext cx="411480" cy="411480"/>
          </a:xfrm>
          <a:prstGeom prst="ellipse">
            <a:avLst/>
          </a:prstGeom>
          <a:solidFill>
            <a:srgbClr val="C97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Effectiveness and Engagement as separate KPIs, not one blended score, since they move independently.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7F3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9672" y="409651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6177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Master_Data + dashboard model for future survey cycles to skip manual re-analysis.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Student Survey Research Dashboard — 1,002 students · 15 teachers — Master_Data / Analysis / KPI Analysis sheets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52144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701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Shreshta Saha</cp:lastModifiedBy>
  <cp:revision>3</cp:revision>
  <dcterms:created xsi:type="dcterms:W3CDTF">2026-07-14T08:13:01Z</dcterms:created>
  <dcterms:modified xsi:type="dcterms:W3CDTF">2026-07-14T09:29:00Z</dcterms:modified>
</cp:coreProperties>
</file>